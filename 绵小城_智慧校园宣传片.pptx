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howPr loop="0" showNarration="1">
    <p:present/>
  </p:sho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你好。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357759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Hello.</a:t>
            </a:r>
            <a:endParaRPr lang="en-US" sz="18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</p:bld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如果，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校园也能懂你？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if your campus could understand you?</a:t>
            </a:r>
            <a:endParaRPr lang="en-US" sz="16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</p:bld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640080"/>
            <a:ext cx="822960" cy="82296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6052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8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绵小城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智慧校园 AI 服务平台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WisPath CampusMate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4206240"/>
            <a:ext cx="731520" cy="18288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绵阳城市学院</a:t>
            </a:r>
            <a:endParaRPr lang="en-US" sz="12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</p:bld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1430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绵小城 AI 对话助手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20640" y="11430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流式对话 · 语音 · 长期记忆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647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7647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学生成长档案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17647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技能标签 · 勋章 · 综合评分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8658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38658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学习计划 · 连续打卡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20640" y="238658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智能拆解 · 连击激励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0837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300837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教师端 · 学生管理与危机预警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300837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 画像 · 三级预警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6301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办事服务 · 请假审批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20640" y="36301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在线申请 · 一键审批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42519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校园资讯 · 资源中心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0" y="42519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聚合资讯 · AI 资源</a:t>
            </a:r>
            <a:endParaRPr lang="en-US" sz="14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46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600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64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600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0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600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18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600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36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6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54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600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7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600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600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8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6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8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600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8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600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  <p:bldP spid="16" grpId="0" uiExpand="1"/>
      <p:bldP spid="17" grpId="0" uiExpand="1"/>
      <p:bldP spid="18" grpId="0" uiExpand="1"/>
      <p:bldP spid="19" grpId="0" uiExpand="1"/>
      <p:bldP spid="20" grpId="0" uiExpand="1"/>
    </p:bld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绵小城 AI 对话助手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AI Campus Companion</a:t>
            </a:r>
            <a:endParaRPr lang="en-US" sz="18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</p:bld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绵小城 AI 对话助手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流式对话 · 语音输入 · 文件理解 · 长期记忆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94560" y="1463040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5361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帮我拆解一下高数学习计划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67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好的，已为你生成 4 阶段学习计划…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389120" cy="548640"/>
          </a:xfrm>
          <a:prstGeom prst="roundRect">
            <a:avLst>
              <a:gd name="adj" fmla="val 20000"/>
            </a:avLst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53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第一阶段：极限与连续（2 周）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4937760" cy="502920"/>
          </a:xfrm>
          <a:prstGeom prst="roundRect">
            <a:avLst>
              <a:gd name="adj" fmla="val 21818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输入消息…  🎤  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554480"/>
            <a:ext cx="320040" cy="3200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流式对话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实时输出，无需等待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331720"/>
            <a:ext cx="320040" cy="3200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语音输入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边说边问，解放双手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3108960"/>
            <a:ext cx="320040" cy="3200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文件理解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上传文档，智能解读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3886200"/>
            <a:ext cx="320040" cy="3200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长期记忆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记住你的每一次对话</a:t>
            </a:r>
            <a:endParaRPr lang="en-US" sz="1100" dirty="0"/>
          </a:p>
        </p:txBody>
      </p:sp>
    </p:spTree>
  </p:cSld>
  <p:clrMapOvr>
    <a:masterClrMapping/>
  </p:clrMapOvr>
  <p:transition spd="slow" advClick="1" advTm="24000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46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600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64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600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0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600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18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600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36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6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54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600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7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600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600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8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6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8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600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8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600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28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" dur="600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" dur="600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80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" dur="600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8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1" dur="600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280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" dur="600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28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" dur="600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8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" dur="600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  <p:bldP spid="16" grpId="0" uiExpand="1"/>
      <p:bldP spid="17" grpId="0" uiExpand="1"/>
      <p:bldP spid="18" grpId="0" uiExpand="1"/>
      <p:bldP spid="19" grpId="0" uiExpand="1"/>
      <p:bldP spid="20" grpId="0" uiExpand="1"/>
      <p:bldP spid="21" grpId="0" uiExpand="1"/>
      <p:bldP spid="22" grpId="0" uiExpand="1"/>
      <p:bldP spid="23" grpId="0" uiExpand="1"/>
      <p:bldP spid="24" grpId="0" uiExpand="1"/>
      <p:bldP spid="25" grpId="0" uiExpand="1"/>
      <p:bldP spid="26" grpId="0" uiExpand="1"/>
      <p:bldP spid="27" grpId="0" uiExpand="1"/>
    </p:bld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学生成长档案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Growth Portfolio</a:t>
            </a:r>
            <a:endParaRPr lang="en-US" sz="18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</p:bld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学生成长档案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技能兴趣标签 · 勋章体系 · 综合评分雷达图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技能与兴趣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178308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783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78308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783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28600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2286000"/>
            <a:ext cx="914400" cy="384048"/>
          </a:xfrm>
          <a:prstGeom prst="roundRect">
            <a:avLst>
              <a:gd name="adj" fmla="val 47619"/>
            </a:avLst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86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设计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CET-6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278892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2788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竞赛获奖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成长勋章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858768"/>
            <a:ext cx="329184" cy="3291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17320" y="3749040"/>
            <a:ext cx="548640" cy="54864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27048" y="3858768"/>
            <a:ext cx="329184" cy="3291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286000" y="3749040"/>
            <a:ext cx="548640" cy="5486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95728" y="3858768"/>
            <a:ext cx="329184" cy="3291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金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154680" y="3749040"/>
            <a:ext cx="548640" cy="5486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4408" y="3858768"/>
            <a:ext cx="329184" cy="3291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钻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97880" y="1828800"/>
            <a:ext cx="2103120" cy="2103120"/>
          </a:xfrm>
          <a:custGeom>
            <a:avLst/>
            <a:gdLst/>
            <a:ahLst/>
            <a:cxnLst/>
            <a:rect l="l" t="t" r="r" b="b"/>
            <a:pathLst>
              <a:path w="2103120" h="2103120">
                <a:moveTo>
                  <a:pt x="6949440" y="2529840"/>
                </a:moveTo>
                <a:lnTo>
                  <a:pt x="7252999" y="2705100"/>
                </a:lnTo>
                <a:lnTo>
                  <a:pt x="7252999" y="3055620"/>
                </a:lnTo>
                <a:lnTo>
                  <a:pt x="6949440" y="3230880"/>
                </a:lnTo>
                <a:lnTo>
                  <a:pt x="6645881" y="3055620"/>
                </a:lnTo>
                <a:lnTo>
                  <a:pt x="6645881" y="2705100"/>
                </a:lnTo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2C2C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1828800"/>
            <a:ext cx="2103120" cy="2103120"/>
          </a:xfrm>
          <a:custGeom>
            <a:avLst/>
            <a:gdLst/>
            <a:ahLst/>
            <a:cxnLst/>
            <a:rect l="l" t="t" r="r" b="b"/>
            <a:pathLst>
              <a:path w="2103120" h="2103120">
                <a:moveTo>
                  <a:pt x="6949440" y="2179320"/>
                </a:moveTo>
                <a:lnTo>
                  <a:pt x="7556558" y="2529840"/>
                </a:lnTo>
                <a:lnTo>
                  <a:pt x="7556558" y="3230880"/>
                </a:lnTo>
                <a:lnTo>
                  <a:pt x="6949440" y="3581400"/>
                </a:lnTo>
                <a:lnTo>
                  <a:pt x="6342322" y="3230880"/>
                </a:lnTo>
                <a:lnTo>
                  <a:pt x="6342322" y="2529840"/>
                </a:lnTo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2C2C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1828800"/>
            <a:ext cx="2103120" cy="2103120"/>
          </a:xfrm>
          <a:custGeom>
            <a:avLst/>
            <a:gdLst/>
            <a:ahLst/>
            <a:cxnLst/>
            <a:rect l="l" t="t" r="r" b="b"/>
            <a:pathLst>
              <a:path w="2103120" h="2103120">
                <a:moveTo>
                  <a:pt x="6949440" y="1828800"/>
                </a:moveTo>
                <a:lnTo>
                  <a:pt x="7860118" y="2354580"/>
                </a:lnTo>
                <a:lnTo>
                  <a:pt x="7860118" y="3406140"/>
                </a:lnTo>
                <a:lnTo>
                  <a:pt x="6949440" y="3931920"/>
                </a:lnTo>
                <a:lnTo>
                  <a:pt x="6038762" y="3406140"/>
                </a:lnTo>
                <a:lnTo>
                  <a:pt x="6038762" y="2354580"/>
                </a:lnTo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2C2C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2880360"/>
            <a:ext cx="0" cy="-105156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0" y="2880360"/>
            <a:ext cx="910678" cy="-52578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49440" y="2880360"/>
            <a:ext cx="910678" cy="52578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2880360"/>
            <a:ext cx="0" cy="105156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0" y="2880360"/>
            <a:ext cx="-910678" cy="52578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0" y="2880360"/>
            <a:ext cx="-910678" cy="-525780"/>
          </a:xfrm>
          <a:prstGeom prst="line">
            <a:avLst/>
          </a:prstGeom>
          <a:noFill/>
          <a:ln w="9525">
            <a:solidFill>
              <a:srgbClr val="2C2C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97880" y="1828800"/>
            <a:ext cx="2103120" cy="2103120"/>
          </a:xfrm>
          <a:custGeom>
            <a:avLst/>
            <a:gdLst/>
            <a:ahLst/>
            <a:cxnLst/>
            <a:rect l="l" t="t" r="r" b="b"/>
            <a:pathLst>
              <a:path w="2103120" h="2103120">
                <a:moveTo>
                  <a:pt x="6949440" y="1986534"/>
                </a:moveTo>
                <a:lnTo>
                  <a:pt x="7586914" y="2512314"/>
                </a:lnTo>
                <a:lnTo>
                  <a:pt x="7769050" y="3353562"/>
                </a:lnTo>
                <a:lnTo>
                  <a:pt x="6949440" y="3511296"/>
                </a:lnTo>
                <a:lnTo>
                  <a:pt x="6239111" y="3290468"/>
                </a:lnTo>
                <a:lnTo>
                  <a:pt x="6293752" y="2501798"/>
                </a:lnTo>
              </a:path>
            </a:pathLst>
          </a:custGeom>
          <a:solidFill>
            <a:srgbClr val="0A84FF">
              <a:alpha val="40000"/>
            </a:srgbClr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12864" y="194995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50338" y="247573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32474" y="3316986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12864" y="3474720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02535" y="325389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57176" y="246522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31926" y="20802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31926" y="34061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8368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35434" y="34061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品德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35434" y="20802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身心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852160" y="640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852160" y="8961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86.5</a:t>
            </a:r>
            <a:endParaRPr lang="en-US" sz="3600" dirty="0"/>
          </a:p>
        </p:txBody>
      </p:sp>
    </p:spTree>
  </p:cSld>
  <p:clrMapOvr>
    <a:masterClrMapping/>
  </p:clrMapOvr>
  <p:transition spd="slow" advClick="1" advTm="24000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46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600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64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600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0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600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18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600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36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6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54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600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7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600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600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8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6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8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600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8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600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28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" dur="600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" dur="600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80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" dur="600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8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1" dur="600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280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" dur="600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28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" dur="600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8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" dur="600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28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3" dur="600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280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6" dur="600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280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9" dur="600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280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2" dur="600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8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5" dur="600" fill="hold"/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28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8" dur="600" fill="hold"/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280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1" dur="600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280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4" dur="600" fill="hold"/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280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7" dur="600" fill="hold"/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280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0" dur="600" fill="hold"/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80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3" dur="600" fill="hold"/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80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6" dur="600" fill="hold"/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80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9" dur="600" fill="hold"/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280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2" dur="600" fill="hold"/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28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5" dur="600" fill="hold"/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28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8" dur="600" fill="hold"/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280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1" dur="600" fill="hold"/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80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4" dur="600" fill="hold"/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280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7" dur="600" fill="hold"/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80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0" dur="600" fill="hold"/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280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3" dur="600" fill="hold"/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280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6" dur="600" fill="hold"/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280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9" dur="600" fill="hold"/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280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2" dur="600" fill="hold"/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8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5" dur="600" fill="hold"/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280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8" dur="600" fill="hold"/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280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1" dur="600" fill="hold"/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280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4" dur="600" fill="hold"/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280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7" dur="600" fill="hold"/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80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0" dur="600" fill="hold"/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  <p:bldP spid="16" grpId="0" uiExpand="1"/>
      <p:bldP spid="17" grpId="0" uiExpand="1"/>
      <p:bldP spid="18" grpId="0" uiExpand="1"/>
      <p:bldP spid="19" grpId="0" uiExpand="1"/>
      <p:bldP spid="20" grpId="0" uiExpand="1"/>
      <p:bldP spid="21" grpId="0" uiExpand="1"/>
      <p:bldP spid="22" grpId="0" uiExpand="1"/>
      <p:bldP spid="23" grpId="0" uiExpand="1"/>
      <p:bldP spid="24" grpId="0" uiExpand="1"/>
      <p:bldP spid="25" grpId="0" uiExpand="1"/>
      <p:bldP spid="26" grpId="0" uiExpand="1"/>
      <p:bldP spid="27" grpId="0" uiExpand="1"/>
      <p:bldP spid="28" grpId="0" uiExpand="1"/>
      <p:bldP spid="29" grpId="0" uiExpand="1"/>
      <p:bldP spid="30" grpId="0" uiExpand="1"/>
      <p:bldP spid="31" grpId="0" uiExpand="1"/>
      <p:bldP spid="32" grpId="0" uiExpand="1"/>
      <p:bldP spid="33" grpId="0" uiExpand="1"/>
      <p:bldP spid="34" grpId="0" uiExpand="1"/>
      <p:bldP spid="35" grpId="0" uiExpand="1"/>
      <p:bldP spid="36" grpId="0" uiExpand="1"/>
      <p:bldP spid="37" grpId="0" uiExpand="1"/>
      <p:bldP spid="38" grpId="0" uiExpand="1"/>
      <p:bldP spid="39" grpId="0" uiExpand="1"/>
      <p:bldP spid="40" grpId="0" uiExpand="1"/>
      <p:bldP spid="41" grpId="0" uiExpand="1"/>
      <p:bldP spid="42" grpId="0" uiExpand="1"/>
      <p:bldP spid="43" grpId="0" uiExpand="1"/>
      <p:bldP spid="44" grpId="0" uiExpand="1"/>
      <p:bldP spid="45" grpId="0" uiExpand="1"/>
      <p:bldP spid="46" grpId="0" uiExpand="1"/>
      <p:bldP spid="47" grpId="0" uiExpand="1"/>
      <p:bldP spid="48" grpId="0" uiExpand="1"/>
      <p:bldP spid="49" grpId="0" uiExpand="1"/>
      <p:bldP spid="50" grpId="0" uiExpand="1"/>
      <p:bldP spid="51" grpId="0" uiExpand="1"/>
      <p:bldP spid="52" grpId="0" uiExpand="1"/>
      <p:bldP spid="53" grpId="0" uiExpand="1"/>
      <p:bldP spid="54" grpId="0" uiExpand="1"/>
      <p:bldP spid="55" grpId="0" uiExpand="1"/>
      <p:bldP spid="56" grpId="0" uiExpand="1"/>
      <p:bldP spid="57" grpId="0" uiExpand="1"/>
    </p:bld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学习计划 · 连续打卡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 Plan &amp; Check-in Streak</a:t>
            </a:r>
            <a:endParaRPr lang="en-US" sz="18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</p:bld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学习计划 · 连续打卡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智能拆解目标 · 连续打卡激励 · 断签提醒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7132320" cy="0"/>
          </a:xfrm>
          <a:prstGeom prst="line">
            <a:avLst/>
          </a:prstGeom>
          <a:noFill/>
          <a:ln w="25400">
            <a:solidFill>
              <a:srgbClr val="2C2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09928"/>
            <a:ext cx="237744" cy="237744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阶段一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极限与连续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1-2 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709928"/>
            <a:ext cx="237744" cy="237744"/>
          </a:xfrm>
          <a:prstGeom prst="ellipse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阶段二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导数与微分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3-4 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41848" y="1709928"/>
            <a:ext cx="237744" cy="237744"/>
          </a:xfrm>
          <a:prstGeom prst="ellipse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阶段三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5-7 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19288" y="1709928"/>
            <a:ext cx="237744" cy="237744"/>
          </a:xfrm>
          <a:prstGeom prst="ellipse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阶段四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8-10 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连续打卡热力图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" y="3429000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3429000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4712" y="3429000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16736" y="3429000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8760" y="3429000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429000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92808" y="3429000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84832" y="3429000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76856" y="3429000"/>
            <a:ext cx="155448" cy="15544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429000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60904" y="3429000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52928" y="3429000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44952" y="3429000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621024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" y="3621024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688" y="3621024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24712" y="3621024"/>
            <a:ext cx="155448" cy="15544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3621024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08760" y="3621024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00784" y="3621024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92808" y="3621024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84832" y="3621024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76856" y="3621024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68880" y="3621024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60904" y="3621024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52928" y="3621024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44952" y="3621024"/>
            <a:ext cx="155448" cy="15544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3813048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0664" y="3813048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2688" y="3813048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24712" y="3813048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16736" y="3813048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08760" y="3813048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00784" y="3813048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92808" y="3813048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84832" y="3813048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76856" y="3813048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68880" y="3813048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60904" y="3813048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52928" y="3813048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44952" y="3813048"/>
            <a:ext cx="155448" cy="15544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" y="4005072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0664" y="4005072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2688" y="4005072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24712" y="4005072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16736" y="4005072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508760" y="4005072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700784" y="4005072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92808" y="4005072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84832" y="4005072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6856" y="4005072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4005072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60904" y="4005072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4005072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44952" y="4005072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" y="4197096"/>
            <a:ext cx="155448" cy="15544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40664" y="4197096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2688" y="4197096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24712" y="4197096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316736" y="4197096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508760" y="4197096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00784" y="4197096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92808" y="4197096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084832" y="4197096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276856" y="4197096"/>
            <a:ext cx="155448" cy="15544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68880" y="4197096"/>
            <a:ext cx="155448" cy="15544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660904" y="4197096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52928" y="4197096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44952" y="4197096"/>
            <a:ext cx="155448" cy="155448"/>
          </a:xfrm>
          <a:prstGeom prst="rect">
            <a:avLst/>
          </a:prstGeom>
          <a:solidFill>
            <a:srgbClr val="5E5CE6"/>
          </a:solidFill>
          <a:ln w="12700">
            <a:solidFill>
              <a:srgbClr val="5E5CE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8640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连续打卡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5486400" y="33375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28</a:t>
            </a:r>
            <a:endParaRPr lang="en-US" sz="6400" dirty="0"/>
          </a:p>
        </p:txBody>
      </p:sp>
      <p:sp>
        <p:nvSpPr>
          <p:cNvPr id="94" name="Text 92"/>
          <p:cNvSpPr/>
          <p:nvPr/>
        </p:nvSpPr>
        <p:spPr>
          <a:xfrm>
            <a:off x="5486400" y="4251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315200" y="3474720"/>
            <a:ext cx="640080" cy="6400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3152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🏅</a:t>
            </a:r>
            <a:endParaRPr lang="en-US" sz="2800" dirty="0"/>
          </a:p>
        </p:txBody>
      </p:sp>
      <p:sp>
        <p:nvSpPr>
          <p:cNvPr id="97" name="Text 95"/>
          <p:cNvSpPr/>
          <p:nvPr/>
        </p:nvSpPr>
        <p:spPr>
          <a:xfrm>
            <a:off x="694944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月度恒心</a:t>
            </a:r>
            <a:endParaRPr lang="en-US" sz="1200" dirty="0"/>
          </a:p>
        </p:txBody>
      </p:sp>
    </p:spTree>
  </p:cSld>
  <p:clrMapOvr>
    <a:masterClrMapping/>
  </p:clrMapOvr>
  <p:transition spd="slow" advClick="1" advTm="24000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46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600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64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600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0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600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18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600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36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6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54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600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7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600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600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8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6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8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600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8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600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28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" dur="600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" dur="600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80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" dur="600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8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1" dur="600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280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" dur="600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28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" dur="600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8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" dur="600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28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3" dur="600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280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6" dur="600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280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9" dur="600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280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2" dur="600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8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5" dur="600" fill="hold"/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28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8" dur="600" fill="hold"/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280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1" dur="600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280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4" dur="600" fill="hold"/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280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7" dur="600" fill="hold"/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280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0" dur="600" fill="hold"/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80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3" dur="600" fill="hold"/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80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6" dur="600" fill="hold"/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80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9" dur="600" fill="hold"/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280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2" dur="600" fill="hold"/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28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5" dur="600" fill="hold"/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28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8" dur="600" fill="hold"/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280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1" dur="600" fill="hold"/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80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4" dur="600" fill="hold"/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280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7" dur="600" fill="hold"/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80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0" dur="600" fill="hold"/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280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3" dur="600" fill="hold"/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280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6" dur="600" fill="hold"/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280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9" dur="600" fill="hold"/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280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2" dur="600" fill="hold"/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8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5" dur="600" fill="hold"/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280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8" dur="600" fill="hold"/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280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1" dur="600" fill="hold"/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280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4" dur="600" fill="hold"/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280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7" dur="600" fill="hold"/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80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0" dur="600" fill="hold"/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280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3" dur="600" fill="hold"/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280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6" dur="600" fill="hold"/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280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9" dur="600" fill="hold"/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280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82" dur="600" fill="hold"/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28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85" dur="600" fill="hold"/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80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88" dur="600" fill="hold"/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280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1" dur="600" fill="hold"/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280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4" dur="600" fill="hold"/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280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7" dur="600" fill="hold"/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280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0" dur="600" fill="hold"/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8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3" dur="600" fill="hold"/>
                                  <p:tgtEl>
                                    <p:spTgt spid="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280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6" dur="600" fill="hold"/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280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9" dur="600" fill="hold"/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280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2" dur="600" fill="hold"/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280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5" dur="600" fill="hold"/>
                                  <p:tgtEl>
                                    <p:spTgt spid="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80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8" dur="600" fill="hold"/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280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1" dur="600" fill="hold"/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280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4" dur="600" fill="hold"/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280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7" dur="600" fill="hold"/>
                                  <p:tgtEl>
                                    <p:spTgt spid="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28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0" dur="600" fill="hold"/>
                                  <p:tgtEl>
                                    <p:spTgt spid="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280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3" dur="600" fill="hold"/>
                                  <p:tgtEl>
                                    <p:spTgt spid="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280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6" dur="600" fill="hold"/>
                                  <p:tgtEl>
                                    <p:spTgt spid="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280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9" dur="600" fill="hold"/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280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42" dur="600" fill="hold"/>
                                  <p:tgtEl>
                                    <p:spTgt spid="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280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45" dur="600" fill="hold"/>
                                  <p:tgtEl>
                                    <p:spTgt spid="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280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48" dur="600" fill="hold"/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280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1" dur="600" fill="hold"/>
                                  <p:tgtEl>
                                    <p:spTgt spid="8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280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4" dur="600" fill="hold"/>
                                  <p:tgtEl>
                                    <p:spTgt spid="8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280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7" dur="600" fill="hold"/>
                                  <p:tgtEl>
                                    <p:spTgt spid="8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280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0" dur="600" fill="hold"/>
                                  <p:tgtEl>
                                    <p:spTgt spid="8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280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3" dur="600" fill="hold"/>
                                  <p:tgtEl>
                                    <p:spTgt spid="8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80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6" dur="600" fill="hold"/>
                                  <p:tgtEl>
                                    <p:spTgt spid="8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280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9" dur="600" fill="hold"/>
                                  <p:tgtEl>
                                    <p:spTgt spid="9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280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72" dur="600" fill="hold"/>
                                  <p:tgtEl>
                                    <p:spTgt spid="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280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75" dur="600" fill="hold"/>
                                  <p:tgtEl>
                                    <p:spTgt spid="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280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78" dur="600" fill="hold"/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280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1" dur="600" fill="hold"/>
                                  <p:tgtEl>
                                    <p:spTgt spid="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280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4" dur="600" fill="hold"/>
                                  <p:tgtEl>
                                    <p:spTgt spid="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280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7" dur="600" fill="hold"/>
                                  <p:tgtEl>
                                    <p:spTgt spid="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280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0" dur="600" fill="hold"/>
                                  <p:tgtEl>
                                    <p:spTgt spid="9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  <p:bldP spid="16" grpId="0" uiExpand="1"/>
      <p:bldP spid="17" grpId="0" uiExpand="1"/>
      <p:bldP spid="18" grpId="0" uiExpand="1"/>
      <p:bldP spid="19" grpId="0" uiExpand="1"/>
      <p:bldP spid="20" grpId="0" uiExpand="1"/>
      <p:bldP spid="21" grpId="0" uiExpand="1"/>
      <p:bldP spid="22" grpId="0" uiExpand="1"/>
      <p:bldP spid="23" grpId="0" uiExpand="1"/>
      <p:bldP spid="24" grpId="0" uiExpand="1"/>
      <p:bldP spid="25" grpId="0" uiExpand="1"/>
      <p:bldP spid="26" grpId="0" uiExpand="1"/>
      <p:bldP spid="27" grpId="0" uiExpand="1"/>
      <p:bldP spid="28" grpId="0" uiExpand="1"/>
      <p:bldP spid="29" grpId="0" uiExpand="1"/>
      <p:bldP spid="30" grpId="0" uiExpand="1"/>
      <p:bldP spid="31" grpId="0" uiExpand="1"/>
      <p:bldP spid="32" grpId="0" uiExpand="1"/>
      <p:bldP spid="33" grpId="0" uiExpand="1"/>
      <p:bldP spid="34" grpId="0" uiExpand="1"/>
      <p:bldP spid="35" grpId="0" uiExpand="1"/>
      <p:bldP spid="36" grpId="0" uiExpand="1"/>
      <p:bldP spid="37" grpId="0" uiExpand="1"/>
      <p:bldP spid="38" grpId="0" uiExpand="1"/>
      <p:bldP spid="39" grpId="0" uiExpand="1"/>
      <p:bldP spid="40" grpId="0" uiExpand="1"/>
      <p:bldP spid="41" grpId="0" uiExpand="1"/>
      <p:bldP spid="42" grpId="0" uiExpand="1"/>
      <p:bldP spid="43" grpId="0" uiExpand="1"/>
      <p:bldP spid="44" grpId="0" uiExpand="1"/>
      <p:bldP spid="45" grpId="0" uiExpand="1"/>
      <p:bldP spid="46" grpId="0" uiExpand="1"/>
      <p:bldP spid="47" grpId="0" uiExpand="1"/>
      <p:bldP spid="48" grpId="0" uiExpand="1"/>
      <p:bldP spid="49" grpId="0" uiExpand="1"/>
      <p:bldP spid="50" grpId="0" uiExpand="1"/>
      <p:bldP spid="51" grpId="0" uiExpand="1"/>
      <p:bldP spid="52" grpId="0" uiExpand="1"/>
      <p:bldP spid="53" grpId="0" uiExpand="1"/>
      <p:bldP spid="54" grpId="0" uiExpand="1"/>
      <p:bldP spid="55" grpId="0" uiExpand="1"/>
      <p:bldP spid="56" grpId="0" uiExpand="1"/>
      <p:bldP spid="57" grpId="0" uiExpand="1"/>
      <p:bldP spid="58" grpId="0" uiExpand="1"/>
      <p:bldP spid="59" grpId="0" uiExpand="1"/>
      <p:bldP spid="60" grpId="0" uiExpand="1"/>
      <p:bldP spid="61" grpId="0" uiExpand="1"/>
      <p:bldP spid="62" grpId="0" uiExpand="1"/>
      <p:bldP spid="63" grpId="0" uiExpand="1"/>
      <p:bldP spid="64" grpId="0" uiExpand="1"/>
      <p:bldP spid="65" grpId="0" uiExpand="1"/>
      <p:bldP spid="66" grpId="0" uiExpand="1"/>
      <p:bldP spid="67" grpId="0" uiExpand="1"/>
      <p:bldP spid="68" grpId="0" uiExpand="1"/>
      <p:bldP spid="69" grpId="0" uiExpand="1"/>
      <p:bldP spid="70" grpId="0" uiExpand="1"/>
      <p:bldP spid="71" grpId="0" uiExpand="1"/>
      <p:bldP spid="72" grpId="0" uiExpand="1"/>
      <p:bldP spid="73" grpId="0" uiExpand="1"/>
      <p:bldP spid="74" grpId="0" uiExpand="1"/>
      <p:bldP spid="75" grpId="0" uiExpand="1"/>
      <p:bldP spid="76" grpId="0" uiExpand="1"/>
      <p:bldP spid="77" grpId="0" uiExpand="1"/>
      <p:bldP spid="78" grpId="0" uiExpand="1"/>
      <p:bldP spid="79" grpId="0" uiExpand="1"/>
      <p:bldP spid="80" grpId="0" uiExpand="1"/>
      <p:bldP spid="81" grpId="0" uiExpand="1"/>
      <p:bldP spid="82" grpId="0" uiExpand="1"/>
      <p:bldP spid="83" grpId="0" uiExpand="1"/>
      <p:bldP spid="84" grpId="0" uiExpand="1"/>
      <p:bldP spid="85" grpId="0" uiExpand="1"/>
      <p:bldP spid="86" grpId="0" uiExpand="1"/>
      <p:bldP spid="87" grpId="0" uiExpand="1"/>
      <p:bldP spid="88" grpId="0" uiExpand="1"/>
      <p:bldP spid="89" grpId="0" uiExpand="1"/>
      <p:bldP spid="90" grpId="0" uiExpand="1"/>
      <p:bldP spid="91" grpId="0" uiExpand="1"/>
      <p:bldP spid="92" grpId="0" uiExpand="1"/>
      <p:bldP spid="93" grpId="0" uiExpand="1"/>
      <p:bldP spid="94" grpId="0" uiExpand="1"/>
      <p:bldP spid="95" grpId="0" uiExpand="1"/>
      <p:bldP spid="96" grpId="0" uiExpand="1"/>
      <p:bldP spid="97" grpId="0" uiExpand="1"/>
    </p:bld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教师端 · 学生管理与危机预警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 Workbench &amp; Crisis Alert</a:t>
            </a:r>
            <a:endParaRPr lang="en-US" sz="18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</p:bld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教师端 · 学生管理与危机预警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 360 画像 · 语义级心理危机分析 · 三级分级推送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280160" cy="1188720"/>
          </a:xfrm>
          <a:prstGeom prst="roundRect">
            <a:avLst>
              <a:gd name="adj" fmla="val 7692"/>
            </a:avLst>
          </a:prstGeom>
          <a:solidFill>
            <a:srgbClr val="FF453A">
              <a:alpha val="80000"/>
            </a:srgbClr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严重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立即介入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1417320"/>
            <a:ext cx="1280160" cy="1188720"/>
          </a:xfrm>
          <a:prstGeom prst="roundRect">
            <a:avLst>
              <a:gd name="adj" fmla="val 7692"/>
            </a:avLst>
          </a:prstGeom>
          <a:solidFill>
            <a:srgbClr val="FF9F0A">
              <a:alpha val="80000"/>
            </a:srgbClr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6596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中度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6596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重点关注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1280160" cy="1188720"/>
          </a:xfrm>
          <a:prstGeom prst="roundRect">
            <a:avLst>
              <a:gd name="adj" fmla="val 7692"/>
            </a:avLst>
          </a:prstGeom>
          <a:solidFill>
            <a:srgbClr val="30D158">
              <a:alpha val="80000"/>
            </a:srgbClr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轻微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78892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788920"/>
            <a:ext cx="73152" cy="548640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张同学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2862072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FF453A">
              <a:alpha val="70000"/>
            </a:srgbClr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8620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30815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近期对话频繁出现消极词汇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3447288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447288"/>
            <a:ext cx="73152" cy="54864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3493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李同学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520440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FF9F0A">
              <a:alpha val="70000"/>
            </a:srgbClr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3739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成绩下滑 + 请假频率升高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4105656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4105656"/>
            <a:ext cx="73152" cy="54864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41513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王同学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4178808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30D158">
              <a:alpha val="70000"/>
            </a:srgbClr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1788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轻微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43982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14 天未发起对话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主动触达 · 基于对话语义实时分析</a:t>
            </a:r>
            <a:endParaRPr lang="en-US" sz="1300" dirty="0"/>
          </a:p>
        </p:txBody>
      </p:sp>
    </p:spTree>
  </p:cSld>
  <p:clrMapOvr>
    <a:masterClrMapping/>
  </p:clrMapOvr>
  <p:transition spd="slow" advClick="1" advTm="24000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46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600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64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600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0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600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18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600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36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6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54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600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7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600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600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8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6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8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600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8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600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28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" dur="600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" dur="600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80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" dur="600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8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1" dur="600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280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" dur="600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28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" dur="600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8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" dur="600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28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3" dur="600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280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6" dur="600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280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9" dur="600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280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2" dur="600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8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5" dur="600" fill="hold"/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28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8" dur="600" fill="hold"/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280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1" dur="600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  <p:bldP spid="16" grpId="0" uiExpand="1"/>
      <p:bldP spid="17" grpId="0" uiExpand="1"/>
      <p:bldP spid="18" grpId="0" uiExpand="1"/>
      <p:bldP spid="19" grpId="0" uiExpand="1"/>
      <p:bldP spid="20" grpId="0" uiExpand="1"/>
      <p:bldP spid="21" grpId="0" uiExpand="1"/>
      <p:bldP spid="22" grpId="0" uiExpand="1"/>
      <p:bldP spid="23" grpId="0" uiExpand="1"/>
      <p:bldP spid="24" grpId="0" uiExpand="1"/>
      <p:bldP spid="25" grpId="0" uiExpand="1"/>
      <p:bldP spid="26" grpId="0" uiExpand="1"/>
      <p:bldP spid="27" grpId="0" uiExpand="1"/>
      <p:bldP spid="28" grpId="0" uiExpand="1"/>
      <p:bldP spid="29" grpId="0" uiExpand="1"/>
      <p:bldP spid="30" grpId="0" uiExpand="1"/>
      <p:bldP spid="31" grpId="0" uiExpand="1"/>
      <p:bldP spid="32" grpId="0" uiExpand="1"/>
      <p:bldP spid="33" grpId="0" uiExpand="1"/>
      <p:bldP spid="34" grpId="0" uiExpand="1"/>
    </p:bld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办事服务 · 请假审批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 &amp; Leave Approval</a:t>
            </a:r>
            <a:endParaRPr lang="en-US" sz="18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</p:bld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办事服务 · 请假审批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在线申请 · 一键审批 · 全流程留痕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920240" cy="1280160"/>
          </a:xfrm>
          <a:prstGeom prst="roundRect">
            <a:avLst>
              <a:gd name="adj" fmla="val 10714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学生提交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填写申请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01168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1920240" cy="1280160"/>
          </a:xfrm>
          <a:prstGeom prst="roundRect">
            <a:avLst>
              <a:gd name="adj" fmla="val 10714"/>
            </a:avLst>
          </a:prstGeom>
          <a:solidFill>
            <a:srgbClr val="1C1C1E"/>
          </a:solidFill>
          <a:ln w="25400">
            <a:solidFill>
              <a:srgbClr val="0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教师审批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在线处理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1920240" cy="1280160"/>
          </a:xfrm>
          <a:prstGeom prst="roundRect">
            <a:avLst>
              <a:gd name="adj" fmla="val 10714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📁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自动归档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留痕可查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办事服务矩阵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请假申请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560320" y="37033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证明申请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0" y="37033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项目申请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0" y="37033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失物招领</a:t>
            </a:r>
            <a:endParaRPr lang="en-US" sz="1500" dirty="0"/>
          </a:p>
        </p:txBody>
      </p:sp>
    </p:spTree>
  </p:cSld>
  <p:clrMapOvr>
    <a:masterClrMapping/>
  </p:clrMapOvr>
  <p:transition spd="slow" advClick="1" advTm="24000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46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600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64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600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0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600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18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600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36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6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54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600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7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600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600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8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6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8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600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8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600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28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" dur="600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" dur="600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80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" dur="600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8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1" dur="600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280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" dur="600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28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" dur="600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  <p:bldP spid="16" grpId="0" uiExpand="1"/>
      <p:bldP spid="17" grpId="0" uiExpand="1"/>
      <p:bldP spid="18" grpId="0" uiExpand="1"/>
      <p:bldP spid="19" grpId="0" uiExpand="1"/>
      <p:bldP spid="20" grpId="0" uiExpand="1"/>
      <p:bldP spid="21" grpId="0" uiExpand="1"/>
      <p:bldP spid="22" grpId="0" uiExpand="1"/>
      <p:bldP spid="23" grpId="0" uiExpand="1"/>
      <p:bldP spid="24" grpId="0" uiExpand="1"/>
      <p:bldP spid="25" grpId="0" uiExpand="1"/>
      <p:bldP spid="26" grpId="0" uiExpand="1"/>
    </p:bldLst>
  </p:timing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校园资讯 · 资源中心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 News &amp; AI Resource Hub</a:t>
            </a:r>
            <a:endParaRPr lang="en-US" sz="18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</p:bldLst>
  </p:timing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校园资讯 · 资源中心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聚合全网 AI 资讯 · 智能体榜 · 开源项目 · 权威排行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13716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开源项目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3716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时政要闻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国产模型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4937760" cy="594360"/>
          </a:xfrm>
          <a:prstGeom prst="roundRect">
            <a:avLst>
              <a:gd name="adj" fmla="val 15385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发布新一代推理模型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官网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08483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FF453A">
              <a:alpha val="70000"/>
            </a:srgbClr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0848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633472"/>
            <a:ext cx="4937760" cy="594360"/>
          </a:xfrm>
          <a:prstGeom prst="roundRect">
            <a:avLst>
              <a:gd name="adj" fmla="val 15385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706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LMArena 最新 Chatbot 排行榜更新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2962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LMArena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4937760" cy="594360"/>
          </a:xfrm>
          <a:prstGeom prst="roundRect">
            <a:avLst>
              <a:gd name="adj" fmla="val 15385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419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开源项目周榜：Agent 框架领跑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511296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FF453A">
              <a:alpha val="70000"/>
            </a:srgbClr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5112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059936"/>
            <a:ext cx="4937760" cy="594360"/>
          </a:xfrm>
          <a:prstGeom prst="roundRect">
            <a:avLst>
              <a:gd name="adj" fmla="val 15385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教育部发布 AI 教育指导意见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资源空间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52160" y="1938528"/>
            <a:ext cx="274320" cy="274320"/>
          </a:xfrm>
          <a:prstGeom prst="ellipse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学术论文库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852160" y="2596896"/>
            <a:ext cx="274320" cy="274320"/>
          </a:xfrm>
          <a:prstGeom prst="ellipse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63640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开源代码仓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852160" y="3255264"/>
            <a:ext cx="274320" cy="274320"/>
          </a:xfrm>
          <a:prstGeom prst="ellipse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63640" y="31455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模型排行榜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852160" y="3913632"/>
            <a:ext cx="274320" cy="274320"/>
          </a:xfrm>
          <a:prstGeom prst="ellipse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38039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学习路径图</a:t>
            </a:r>
            <a:endParaRPr lang="en-US" sz="1400" dirty="0"/>
          </a:p>
        </p:txBody>
      </p:sp>
    </p:spTree>
  </p:cSld>
  <p:clrMapOvr>
    <a:masterClrMapping/>
  </p:clrMapOvr>
  <p:transition spd="slow" advClick="1" advTm="24000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46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600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64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600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0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600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18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600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36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6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54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600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7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600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600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8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6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28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600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8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600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28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" dur="600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" dur="600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80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" dur="600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8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1" dur="600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280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" dur="600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28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" dur="600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8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" dur="600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28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3" dur="600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280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6" dur="600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280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9" dur="600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280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2" dur="600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8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5" dur="600" fill="hold"/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28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8" dur="600" fill="hold"/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280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1" dur="600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280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4" dur="600" fill="hold"/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280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7" dur="600" fill="hold"/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280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0" dur="600" fill="hold"/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80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3" dur="600" fill="hold"/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80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6" dur="600" fill="hold"/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80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9" dur="600" fill="hold"/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280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2" dur="600" fill="hold"/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28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5" dur="600" fill="hold"/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  <p:bldP spid="16" grpId="0" uiExpand="1"/>
      <p:bldP spid="17" grpId="0" uiExpand="1"/>
      <p:bldP spid="18" grpId="0" uiExpand="1"/>
      <p:bldP spid="19" grpId="0" uiExpand="1"/>
      <p:bldP spid="20" grpId="0" uiExpand="1"/>
      <p:bldP spid="21" grpId="0" uiExpand="1"/>
      <p:bldP spid="22" grpId="0" uiExpand="1"/>
      <p:bldP spid="23" grpId="0" uiExpand="1"/>
      <p:bldP spid="24" grpId="0" uiExpand="1"/>
      <p:bldP spid="25" grpId="0" uiExpand="1"/>
      <p:bldP spid="26" grpId="0" uiExpand="1"/>
      <p:bldP spid="27" grpId="0" uiExpand="1"/>
      <p:bldP spid="28" grpId="0" uiExpand="1"/>
      <p:bldP spid="29" grpId="0" uiExpand="1"/>
      <p:bldP spid="30" grpId="0" uiExpand="1"/>
      <p:bldP spid="31" grpId="0" uiExpand="1"/>
      <p:bldP spid="32" grpId="0" uiExpand="1"/>
      <p:bldP spid="33" grpId="0" uiExpand="1"/>
      <p:bldP spid="34" grpId="0" uiExpand="1"/>
      <p:bldP spid="35" grpId="0" uiExpand="1"/>
      <p:bldP spid="36" grpId="0" uiExpand="1"/>
      <p:bldP spid="37" grpId="0" uiExpand="1"/>
      <p:bldP spid="38" grpId="0" uiExpand="1"/>
      <p:bldP spid="39" grpId="0" uiExpand="1"/>
      <p:bldP spid="40" grpId="0" uiExpand="1"/>
      <p:bldP spid="41" grpId="0" uiExpand="1"/>
      <p:bldP spid="42" grpId="0" uiExpand="1"/>
    </p:bldLst>
  </p:timing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一个平台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连接全部校园生活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29260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成长档案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29260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学习计划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教师管理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36118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办事服务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36118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C1C1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资讯资源</a:t>
            </a:r>
            <a:endParaRPr lang="en-US" sz="16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600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46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600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64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600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0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600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18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600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36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6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54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600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 uiExpand="1"/>
      <p:bldP spid="13" grpId="0" uiExpand="1"/>
      <p:bldP spid="14" grpId="0" uiExpand="1"/>
      <p:bldP spid="15" grpId="0" uiExpand="1"/>
    </p:bldLst>
  </p:timing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1005840"/>
            <a:ext cx="731520" cy="73152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绵小城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0A84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让校园更懂你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WisPath CampusMate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1600" dirty="0"/>
          </a:p>
        </p:txBody>
      </p:sp>
    </p:spTree>
  </p:cSld>
  <p:clrMapOvr>
    <a:masterClrMapping/>
  </p:clrMapOvr>
  <p:transition spd="med" advClick="1" advTm="12000" p14:dur="12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8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4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92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6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600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/>
      <p:bldP spid="4" grpId="0" uiExpand="1"/>
      <p:bldP spid="5" grpId="0" uiExpand="1"/>
      <p:bldP spid="6" grpId="0" uiExpand="1"/>
      <p:bldP spid="7" grpId="0" uiExpan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2026-10-29T14:46:40Z</dcterms:created>
  <dcterms:modified xsi:type="dcterms:W3CDTF">2026-10-29T14:46:40Z</dcterms:modified>
</cp:coreProperties>
</file>